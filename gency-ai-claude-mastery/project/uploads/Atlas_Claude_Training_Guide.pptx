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-1371600"/>
            <a:ext cx="7772400" cy="7772400"/>
          </a:xfrm>
          <a:prstGeom prst="ellipse">
            <a:avLst/>
          </a:prstGeom>
          <a:solidFill>
            <a:srgbClr val="1E0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4" name="Picture 3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57200" y="1645920"/>
            <a:ext cx="109728" cy="109728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645920"/>
            <a:ext cx="109728" cy="109728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1645920"/>
            <a:ext cx="109728" cy="109728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FFFFFF"/>
                </a:solidFill>
                <a:latin typeface="Gelion"/>
              </a:defRPr>
            </a:pPr>
            <a:r>
              <a:t>Mastering Claude AI</a:t>
            </a:r>
            <a:br/>
            <a:r>
              <a:t>for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Gelion"/>
              </a:defRPr>
            </a:pPr>
            <a:r>
              <a:t>A complete guide to Chat, Cowork, Skills, Projects,</a:t>
            </a:r>
            <a:br/>
            <a:r>
              <a:t>Plugins, and Artifacts for your GTM team.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463040" cy="201168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Internal Training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March 2026  |  ~15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60628"/>
                </a:solidFill>
                <a:latin typeface="Gelion"/>
              </a:defRPr>
            </a:pPr>
            <a: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Gelion"/>
              </a:defRPr>
            </a:pPr>
            <a:r>
              <a:t>Your roadmap from Claude basics to team-wide productivity.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651760" cy="30175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51760" cy="36576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Gelio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The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What is Claude &amp; tiers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Chat vs. Cowork vs. Code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When to use which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651760" cy="30175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2651760" cy="36576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7560" y="1737360"/>
            <a:ext cx="274320" cy="274320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Gelion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764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Setting Up for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Projects &amp; workspace folders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Global &amp; project instructions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Memory &amp; connectors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54480"/>
            <a:ext cx="2651760" cy="30175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554480"/>
            <a:ext cx="2651760" cy="36576"/>
          </a:xfrm>
          <a:prstGeom prst="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1737360"/>
            <a:ext cx="274320" cy="274320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Gelion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764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Power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2860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Our 20+ custom Atlas skills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Artifacts &amp; prototyping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Plugins, MCP, &amp; team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231900" cy="201168"/>
          </a:xfrm>
          <a:prstGeom prst="round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2319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60628"/>
                </a:solidFill>
                <a:latin typeface="Gelion"/>
              </a:defRPr>
            </a:pPr>
            <a:r>
              <a:t>What Is Claude?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0628"/>
                </a:solidFill>
                <a:latin typeface="Gelion"/>
              </a:defRPr>
            </a:pPr>
            <a:r>
              <a:t>Claude is Anthropic's AI assistant — available through web, desktop, mobile, and API. For Atlas, the Desktop App is where the magic happens.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Access &amp; Subscription 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93192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128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Chat on web &amp; desktop (limited messages)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3931920" cy="34747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Pro — $20/mo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7860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Chat + Cowork + Code + higher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93192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443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Max — $100/mo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Everything Pro + 20x usage +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3931920" cy="34747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Team /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31012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Admin controls, SSO, shared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Model Options (March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94560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240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59FA"/>
                </a:solidFill>
                <a:latin typeface="Gelion"/>
              </a:defRPr>
            </a:pPr>
            <a:r>
              <a:t>Claude Opus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Most capable. Complex analysis,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788920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834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27E3"/>
                </a:solidFill>
                <a:latin typeface="Gelion"/>
              </a:defRPr>
            </a:pPr>
            <a:r>
              <a:t>Claude Sonnet 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044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Fast &amp; smart. Great daily driver.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383280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429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A33CA"/>
                </a:solidFill>
                <a:latin typeface="Gelion"/>
              </a:defRPr>
            </a:pPr>
            <a:r>
              <a:t>Claude Haiku 4.5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6393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Fastest. Quick lookups, simple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231900" cy="201168"/>
          </a:xfrm>
          <a:prstGeom prst="round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2319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60628"/>
                </a:solidFill>
                <a:latin typeface="Gelion"/>
              </a:defRPr>
            </a:pPr>
            <a:r>
              <a:t>Chat vs. Cowork vs.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325880"/>
            <a:ext cx="2377440" cy="274320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325880"/>
            <a:ext cx="2743200" cy="274320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Cowork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2286000" cy="274320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118872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82496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27E3"/>
                </a:solidFill>
                <a:latin typeface="Gelion"/>
              </a:defRPr>
            </a:pPr>
            <a:r>
              <a:t>What it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645920"/>
            <a:ext cx="237744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1682496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Q&amp;A, brainstorming, drafting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645920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168249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Multi-step tasks on files &amp; apps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645920"/>
            <a:ext cx="2286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168249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CLI — agentic coding in terminal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185416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27E3"/>
                </a:solidFill>
                <a:latin typeface="Gelion"/>
              </a:defRPr>
            </a:pPr>
            <a:r>
              <a:t>File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14884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2185416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Upload to conversation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148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18541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Direct local folder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1488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18541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Full codebase via terminal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118872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688336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27E3"/>
                </a:solidFill>
                <a:latin typeface="Gelion"/>
              </a:defRPr>
            </a:pPr>
            <a:r>
              <a:t>Scheduled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2651760"/>
            <a:ext cx="237744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2688336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651760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268833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Yes — recurring schedule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268833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Via cron/hooks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5468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191256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27E3"/>
                </a:solidFill>
                <a:latin typeface="Gelion"/>
              </a:defRPr>
            </a:pPr>
            <a:r>
              <a:t>Best for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154680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" y="3191256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Quick questions, edits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1546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19125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Reports, presentations,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15468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319125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Dev, debugging, code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657600"/>
            <a:ext cx="118872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694176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27E3"/>
                </a:solidFill>
                <a:latin typeface="Gelion"/>
              </a:defRPr>
            </a:pPr>
            <a:r>
              <a:t>Who at Atlas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657600"/>
            <a:ext cx="237744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36192" y="3694176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Everyone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657600"/>
            <a:ext cx="2743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369417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Mktg, Sales, RevOps, Ops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657600"/>
            <a:ext cx="2286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3694176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Engineering, DevOps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Rule of thumb: Use Chat for simple back-and-forth. Switch to Cowork when you need Claude to do the work — create files, process data, execute multi-step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231900" cy="201168"/>
          </a:xfrm>
          <a:prstGeom prst="roundRect">
            <a:avLst/>
          </a:prstGeom>
          <a:solidFill>
            <a:srgbClr val="40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2319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Setup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Gelion"/>
              </a:defRPr>
            </a:pPr>
            <a:r>
              <a:t>Getting Started with Cowork — 5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Gelion"/>
              </a:defRPr>
            </a:pPr>
            <a:r>
              <a:t>Set this up once, and every future conversation starts smarter.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2697480" cy="146304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1737360"/>
            <a:ext cx="228600" cy="228600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Install Desktop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Download from claude.com/download.</a:t>
            </a:r>
            <a:br/>
            <a:r>
              <a:t>Log in with Pro, Max, or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645920"/>
            <a:ext cx="2697480" cy="146304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46120" y="1737360"/>
            <a:ext cx="228600" cy="228600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7373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17556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Set Global 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057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Settings &gt; Cowork &gt; Edit.</a:t>
            </a:r>
            <a:br/>
            <a:r>
              <a:t>Role, team context, preferences.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45920"/>
            <a:ext cx="2697480" cy="146304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0" y="1737360"/>
            <a:ext cx="228600" cy="228600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373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7556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Create First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57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Sidebar &gt; Projects &gt; '+'.</a:t>
            </a:r>
            <a:br/>
            <a:r>
              <a:t>Pick local folder, add instructions.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91840"/>
            <a:ext cx="2697480" cy="146304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" y="3383280"/>
            <a:ext cx="228600" cy="228600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832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4015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Connect Your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03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Settings &gt; Connectors.</a:t>
            </a:r>
            <a:br/>
            <a:r>
              <a:t>Calendar, Slack, Asana, Outlook, etc.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3291840"/>
            <a:ext cx="2697480" cy="146304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6120" y="3383280"/>
            <a:ext cx="228600" cy="228600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3832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34015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Add Skills &amp; Plugins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703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Install 20+ custom Atlas skills for</a:t>
            </a:r>
            <a:br/>
            <a:r>
              <a:t>brand voice, docs, sales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60628"/>
                </a:solidFill>
                <a:latin typeface="Gelion"/>
              </a:defRPr>
            </a:pPr>
            <a:r>
              <a:t>Projects — Your Dedicated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What Lives Inside 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Working folder — Claude reads from and saves to this directory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Project instructions — custom rules specific to this project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Memory — preferences and decisions persist across sessions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Scheduled tasks — recurring automations (weekly reports, etc.)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Conversation history — past conversations scoped to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Best Practices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37360"/>
            <a:ext cx="4114800" cy="73152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One project per workstream.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116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Create separate projects for each campaign, workstream, or initiative.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606040"/>
            <a:ext cx="4114800" cy="731520"/>
          </a:xfrm>
          <a:prstGeom prst="rect">
            <a:avLst/>
          </a:prstGeom>
          <a:solidFill>
            <a:srgbClr val="E6DFFB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Add context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Drop brand guidelines, ICPs, templates into the project folder.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474720"/>
            <a:ext cx="4114800" cy="731520"/>
          </a:xfrm>
          <a:prstGeom prst="rect">
            <a:avLst/>
          </a:prstGeom>
          <a:solidFill>
            <a:srgbClr val="F5E0F7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5204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Write clear instructions.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Tell Claude the audience, standards, format, and what to avoid.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40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Gelion"/>
              </a:defRPr>
            </a:pPr>
            <a:r>
              <a:t>Memory &amp;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59FA"/>
                </a:solidFill>
                <a:latin typeface="Gelion"/>
              </a:defRPr>
            </a:pPr>
            <a:r>
              <a:t>Global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Gelion"/>
              </a:defRPr>
            </a:pPr>
            <a:r>
              <a:t>Settings &gt; Cowork &gt; Global Instructions. Apply to every conversation: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Your name, role, and team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Communication style preferences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Default output formats (.docx, .pptx)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Tools and platforms your team 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Example: "I'm a GTM Manager at Atlas HXM. I work across marketing, sales, and RevOps. Always follow Atlas brand voice. Use Gelion fonts. Save outputs as .docx or .pptx."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A33CA"/>
                </a:solidFill>
                <a:latin typeface="Gelion"/>
              </a:defRPr>
            </a:pPr>
            <a:r>
              <a:t>Project-Level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Gelion"/>
              </a:defRPr>
            </a:pPr>
            <a:r>
              <a:t>Claude saves patterns and decisions to MEMORY.md per project: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User memories — your role, expertise, work style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Feedback memories — corrections and confirmed approaches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Project memories — deadlines, stakeholders, decisions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Reference memories — external info locations (Slack, dashboards)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291840"/>
            <a:ext cx="4114800" cy="91440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3375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Tip: Tell Claude "remember that our Q2 campaign launches April 15" or "forget the old positioning doc" — it updates memory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0628"/>
                </a:solidFill>
                <a:latin typeface="Gelion"/>
              </a:defRPr>
            </a:pPr>
            <a:r>
              <a:t>Skills — Persistent Instructions That Never Expire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Gelion"/>
              </a:defRPr>
            </a:pPr>
            <a:r>
              <a:t>A Skill is a markdown file that gives Claude specialized knowledge. Unlike a prompt, it persists and activates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How Skills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SKILL.md file stored in .claude/skills/ folder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No code, no API — just instructions in markdown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Claude reads it when matching task detected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Include templates, rules, examples, references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Multiple skills combine for a single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3931920" cy="54864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Think of skills as SOPs for Claude. What would you tell a new hire to do this task perfectly?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Anatomy of a SKILL.md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65960"/>
            <a:ext cx="4114800" cy="2743200"/>
          </a:xfrm>
          <a:prstGeom prst="rect">
            <a:avLst/>
          </a:prstGeom>
          <a:solidFill>
            <a:srgbClr val="160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011680"/>
            <a:ext cx="3840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CCEE"/>
                </a:solidFill>
                <a:latin typeface="Courier New"/>
              </a:defRPr>
            </a:pPr>
            <a:r>
              <a:t># Content Creator Skill</a:t>
            </a:r>
            <a:br/>
            <a:br/>
            <a:r>
              <a:t>## Role</a:t>
            </a:r>
            <a:br/>
            <a:r>
              <a:t>You are an Atlas HXM content creator...</a:t>
            </a:r>
            <a:br/>
            <a:br/>
            <a:r>
              <a:t>## Voice &amp; Tone</a:t>
            </a:r>
            <a:br/>
            <a:r>
              <a:t>- Authoritative, inclusive, measured</a:t>
            </a:r>
            <a:br/>
            <a:r>
              <a:t>- Never use buzzwords: synergy, leverage</a:t>
            </a:r>
            <a:br/>
            <a:br/>
            <a:r>
              <a:t>## Output Rules</a:t>
            </a:r>
            <a:br/>
            <a:r>
              <a:t>- Lead with insight, not "We at Atlas..."</a:t>
            </a:r>
            <a:br/>
            <a:r>
              <a:t>- Use active voice, short sentences</a:t>
            </a:r>
            <a:br/>
            <a:br/>
            <a:r>
              <a:t>## Templates</a:t>
            </a:r>
            <a:br/>
            <a:r>
              <a:t>### LinkedIn Post Template</a:t>
            </a:r>
            <a:br/>
            <a:r>
              <a:t>[Hook] [Body: 3-4 paragraphs] [CTA]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Gelion"/>
              </a:defRPr>
            </a:pPr>
            <a:r>
              <a:t>Atlas Skills Library — 20+ Custom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Gelion"/>
              </a:defRPr>
            </a:pPr>
            <a:r>
              <a:t>Installed and activate automatically when you ask Claude to do matching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697480" cy="2926080"/>
          </a:xfrm>
          <a:prstGeom prst="rect">
            <a:avLst/>
          </a:prstGeom>
          <a:solidFill>
            <a:srgbClr val="22103A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697480" cy="27432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17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59FA"/>
                </a:solidFill>
                <a:latin typeface="Gelion"/>
              </a:defRPr>
            </a:pPr>
            <a:r>
              <a:t>Brand &amp;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brand-guidelines — voice, colors, logos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social — LinkedIn, Twitter/X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email — cold outbound, follow-ups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dm — LinkedIn DMs, outreach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internal-messaging — Slack,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2697480" cy="2926080"/>
          </a:xfrm>
          <a:prstGeom prst="rect">
            <a:avLst/>
          </a:prstGeom>
          <a:solidFill>
            <a:srgbClr val="22103A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280160"/>
            <a:ext cx="2697480" cy="27432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417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27E3"/>
                </a:solidFill>
                <a:latin typeface="Gelion"/>
              </a:defRPr>
            </a:pPr>
            <a:r>
              <a:t>Sales &amp; 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intro — intro decks, 'what is Atlas'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demo — scripts, prep, follow-up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phone — cold call &amp; voicemail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pricing — one-pagers, ROI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proposal — proposals, RFPs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country — profiles,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2697480" cy="2926080"/>
          </a:xfrm>
          <a:prstGeom prst="rect">
            <a:avLst/>
          </a:prstGeom>
          <a:solidFill>
            <a:srgbClr val="22103A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2697480" cy="27432"/>
          </a:xfrm>
          <a:prstGeom prst="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417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A33CA"/>
                </a:solidFill>
                <a:latin typeface="Gelion"/>
              </a:defRPr>
            </a:pPr>
            <a:r>
              <a:t>Documents &amp; 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presentations — PPT, 40 layouts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reports — client &amp; market reports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docs — one-pagers, white papers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internal — training &amp; knowledge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docx/xlsx/pdf/pptx — format tools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skill-creator &amp; schedule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22103A"/>
          </a:solidFill>
          <a:ln w="127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41655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Gelion"/>
              </a:defRPr>
            </a:pPr>
            <a:r>
              <a:t>Skills combine automatically: "write a cold email about hiring in Germany" = atlas-email + brand-guidelines + atlas-country.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60628"/>
                </a:solidFill>
                <a:latin typeface="Gelion"/>
              </a:defRPr>
            </a:pPr>
            <a:r>
              <a:t>Creating Your Own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Gelion"/>
              </a:defRPr>
            </a:pPr>
            <a:r>
              <a:t>No code needed. Skills are markdown files with clear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697480" cy="2011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697480" cy="36576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" y="1691640"/>
            <a:ext cx="228600" cy="228600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09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Define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What type of work should this skill handle?</a:t>
            </a:r>
            <a:br/>
            <a:r>
              <a:t>"Write LinkedIn posts for Atlas" &gt; "write social content"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554480"/>
            <a:ext cx="2697480" cy="2011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554480"/>
            <a:ext cx="2697480" cy="36576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46120" y="1691640"/>
            <a:ext cx="228600" cy="228600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691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709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Write the SKILL.md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Structure: Role, Rules, Tone, Templates, Examples.</a:t>
            </a:r>
            <a:br/>
            <a:r>
              <a:t>Include 2-3 before/after examples.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554480"/>
            <a:ext cx="2697480" cy="2011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554480"/>
            <a:ext cx="2697480" cy="36576"/>
          </a:xfrm>
          <a:prstGeom prst="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80" y="1691640"/>
            <a:ext cx="228600" cy="228600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1709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Save &amp;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0628"/>
                </a:solidFill>
                <a:latin typeface="Gelion"/>
              </a:defRPr>
            </a:pPr>
            <a:r>
              <a:t>Save to .claude/skills/your-skill-name/SKILL.md</a:t>
            </a:r>
            <a:br/>
            <a:r>
              <a:t>Test and iterate until consistent.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6791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0628"/>
                </a:solidFill>
                <a:latin typeface="Gelion"/>
              </a:defRPr>
            </a:pPr>
            <a:r>
              <a:t>Team tip: Skills are just files. Share with teammates via a shared project directory or repo. Same skills = consistent outputs across the whole team. Use skill-creator to scaffold new skills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0A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Gelion"/>
              </a:defRPr>
            </a:pPr>
            <a:r>
              <a:t>Artifacts — Idea to Interactive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DDFF"/>
                </a:solidFill>
                <a:latin typeface="Gelion"/>
              </a:defRPr>
            </a:pPr>
            <a:r>
              <a:t>What Artifacts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React apps — dashboards, calculators, forms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HTML pages — landing pages, email templates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SVG graphics — diagrams, infographics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Mermaid diagrams — org charts, timelines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Data visualizations — Recharts, D3, Chart.js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  <a:latin typeface="Gelion"/>
              </a:defRPr>
            </a:pPr>
            <a:r>
              <a:t>•  Publish &amp; share — no Claude account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DDFF"/>
                </a:solidFill>
                <a:latin typeface="Gelion"/>
              </a:defRPr>
            </a:pPr>
            <a:r>
              <a:t>Best Practices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91640"/>
            <a:ext cx="4114800" cy="548640"/>
          </a:xfrm>
          <a:prstGeom prst="rect">
            <a:avLst/>
          </a:prstGeom>
          <a:solidFill>
            <a:srgbClr val="081848"/>
          </a:solidFill>
          <a:ln w="12700">
            <a:solidFill>
              <a:srgbClr val="153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Be specific with your first prompt — layout, data, colors,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331720"/>
            <a:ext cx="4114800" cy="548640"/>
          </a:xfrm>
          <a:prstGeom prst="rect">
            <a:avLst/>
          </a:prstGeom>
          <a:solidFill>
            <a:srgbClr val="081848"/>
          </a:solidFill>
          <a:ln w="12700">
            <a:solidFill>
              <a:srgbClr val="153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377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Iterate through conversation — each request builds on previous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971800"/>
            <a:ext cx="4114800" cy="548640"/>
          </a:xfrm>
          <a:prstGeom prst="rect">
            <a:avLst/>
          </a:prstGeom>
          <a:solidFill>
            <a:srgbClr val="081848"/>
          </a:solidFill>
          <a:ln w="12700">
            <a:solidFill>
              <a:srgbClr val="153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Know the limits — ~70% to production. Perfect for prototypes.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611879"/>
            <a:ext cx="4114800" cy="548640"/>
          </a:xfrm>
          <a:prstGeom prst="rect">
            <a:avLst/>
          </a:prstGeom>
          <a:solidFill>
            <a:srgbClr val="081848"/>
          </a:solidFill>
          <a:ln w="12700">
            <a:solidFill>
              <a:srgbClr val="153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575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Security check — no confidential data before publishing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409700" cy="201168"/>
          </a:xfrm>
          <a:prstGeom prst="round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409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Plugins &amp;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0628"/>
                </a:solidFill>
                <a:latin typeface="Gelion"/>
              </a:defRPr>
            </a:pPr>
            <a:r>
              <a:t>Plugins, Connectors, &amp; MCP Servers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697480" cy="36576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Google Calendar, Gmail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Slack, Microsoft Teams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Asana, Linear, Jira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Outlook, SharePoint, OneDrive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Salesforce, HubSpot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7160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371600"/>
            <a:ext cx="2697480" cy="36576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MCP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GitHub, Filesystem, databases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Web scraping &amp; data enrichment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Custom internal APIs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2-3 servers recommended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Each uses context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97480" cy="36576"/>
          </a:xfrm>
          <a:prstGeom prst="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508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0628"/>
                </a:solidFill>
                <a:latin typeface="Gelion"/>
              </a:defRPr>
            </a:pPr>
            <a:r>
              <a:t>Plugins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8288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Bundle skills + MCP + commands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Install from marketplace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Sales: call prep, pipeline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Marketing: content, SEO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Build your own for team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Gelion"/>
              </a:defRPr>
            </a:pPr>
            <a:r>
              <a:t>Claude by Team — Real Use Cases at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057400" cy="347472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2057400" cy="27432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59FA"/>
                </a:solidFill>
                <a:latin typeface="Gelion"/>
              </a:defRPr>
            </a:pPr>
            <a:r>
              <a:t>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On-brand LinkedIn posts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Outbound email sequences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Weekly competitive intel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Branded slide decks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97280"/>
            <a:ext cx="2057400" cy="347472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1097280"/>
            <a:ext cx="2057400" cy="27432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27E3"/>
                </a:solidFill>
                <a:latin typeface="Gelion"/>
              </a:defRPr>
            </a:pPr>
            <a: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Cold call scripts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Demo prep &amp; follow-up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Intro decks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Proposals &amp; RFPs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97280"/>
            <a:ext cx="2057400" cy="347472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097280"/>
            <a:ext cx="2057400" cy="27432"/>
          </a:xfrm>
          <a:prstGeom prst="rect">
            <a:avLst/>
          </a:prstGeom>
          <a:solidFill>
            <a:srgbClr val="BA3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A33CA"/>
                </a:solidFill>
                <a:latin typeface="Gelion"/>
              </a:defRPr>
            </a:pPr>
            <a:r>
              <a:t>RevOps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CRM data cleanup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Country hiring guides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Funnel analysis reports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Process documentation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79" y="1097280"/>
            <a:ext cx="2057400" cy="3474720"/>
          </a:xfrm>
          <a:prstGeom prst="rect">
            <a:avLst/>
          </a:prstGeom>
          <a:solidFill>
            <a:srgbClr val="22103A"/>
          </a:solidFill>
          <a:ln w="12700">
            <a:solidFill>
              <a:srgbClr val="3A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79" y="1097280"/>
            <a:ext cx="2057400" cy="27432"/>
          </a:xfrm>
          <a:prstGeom prst="rect">
            <a:avLst/>
          </a:prstGeom>
          <a:solidFill>
            <a:srgbClr val="FF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19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F77"/>
                </a:solidFill>
                <a:latin typeface="Gelion"/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19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SOPs &amp; training materials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Team announcements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Vendor comparisons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Scheduled status rollups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0628"/>
                </a:solidFill>
                <a:latin typeface="Gelion"/>
              </a:defRPr>
            </a:pPr>
            <a:r>
              <a:t>Recommended Setup by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Pre-Installed Atlas Skills (20+)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160628"/>
                </a:solidFill>
                <a:latin typeface="Gelion"/>
              </a:defRPr>
            </a:pPr>
            <a:r>
              <a:t>•  brand-guidelines  ·  social  ·  email  ·  dm  ·  internal-messaging</a:t>
            </a:r>
          </a:p>
          <a:p>
            <a:pPr>
              <a:spcAft>
                <a:spcPts val="300"/>
              </a:spcAft>
              <a:defRPr sz="800">
                <a:solidFill>
                  <a:srgbClr val="160628"/>
                </a:solidFill>
                <a:latin typeface="Gelion"/>
              </a:defRPr>
            </a:pPr>
            <a:r>
              <a:t>•  intro  ·  demo  ·  phone  ·  pricing  ·  proposal  ·  country</a:t>
            </a:r>
          </a:p>
          <a:p>
            <a:pPr>
              <a:spcAft>
                <a:spcPts val="300"/>
              </a:spcAft>
              <a:defRPr sz="800">
                <a:solidFill>
                  <a:srgbClr val="160628"/>
                </a:solidFill>
                <a:latin typeface="Gelion"/>
              </a:defRPr>
            </a:pPr>
            <a:r>
              <a:t>•  presentations  ·  reports  ·  docs  ·  internal</a:t>
            </a:r>
          </a:p>
          <a:p>
            <a:pPr>
              <a:spcAft>
                <a:spcPts val="300"/>
              </a:spcAft>
              <a:defRPr sz="800">
                <a:solidFill>
                  <a:srgbClr val="160628"/>
                </a:solidFill>
                <a:latin typeface="Gelion"/>
              </a:defRPr>
            </a:pPr>
            <a:r>
              <a:t>•  docx  ·  xlsx  ·  pdf  ·  pptx  ·  schedule  ·  skill-creator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017520"/>
            <a:ext cx="4114800" cy="54864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0449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Same foundation = consistent outputs, aligned messaging, and one-file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Recommended Add-Ons by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4114800" cy="256032"/>
          </a:xfrm>
          <a:prstGeom prst="rect">
            <a:avLst/>
          </a:prstGeom>
          <a:solidFill>
            <a:srgbClr val="582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Gelion"/>
              </a:defRPr>
            </a:pPr>
            <a: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Gelion"/>
              </a:defRPr>
            </a:pPr>
            <a:r>
              <a:t>Build These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64208"/>
            <a:ext cx="4114800" cy="274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64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Content Creator, SEO, Campaign Brief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956816"/>
            <a:ext cx="41148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56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568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Call Prep, Objection Handling, Sequences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249424"/>
            <a:ext cx="4114800" cy="274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249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RevOps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494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Data Analysis, Report Template, Process 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542032"/>
            <a:ext cx="41148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542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Enablement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Training Creator, Battle Cards, Playbooks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834640"/>
            <a:ext cx="4114800" cy="2743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SOP Writer, Meeting Prep, Vendor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77"/>
                </a:solidFill>
                <a:latin typeface="Gelion"/>
              </a:defRPr>
            </a:pPr>
            <a:r>
              <a:t>Use skill-creator — "create a new skill for [task]" scaffolds everything.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195D"/>
            </a:gs>
            <a:gs pos="100000">
              <a:srgbClr val="1E046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Gelion"/>
              </a:defRPr>
            </a:pPr>
            <a:r>
              <a:t>10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1. Be specific, not vague — include audience, format, word 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2. Use Projects — always. Never bare conversations.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3. Front-load context — drop brand docs, ICPs, examples.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799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175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4. Iterate, don't restart — fix the 20%, don't start 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5. Give feedback — 'perfect' or 'never do X' builds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05156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6. Schedule recurring work — set once, get forever.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69164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7. Combine skills — brand + presentations = better output.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33172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377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8. Use Chat for quick things — don't burn Cowork tokens.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971799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0175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9. Review before sharing — accuracy, brand, confidential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611880"/>
            <a:ext cx="4206240" cy="548640"/>
          </a:xfrm>
          <a:prstGeom prst="rect">
            <a:avLst/>
          </a:prstGeom>
          <a:solidFill>
            <a:srgbClr val="120A35"/>
          </a:solidFill>
          <a:ln w="12700">
            <a:solidFill>
              <a:srgbClr val="281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Gelion"/>
              </a:defRPr>
            </a:pPr>
            <a:r>
              <a:t>10. Share skills with your team — build once, benefit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60628"/>
                </a:solidFill>
                <a:latin typeface="Gelion"/>
              </a:defRPr>
            </a:pPr>
            <a:r>
              <a:t>The CRAFT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931920" cy="438912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lion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4416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Context — Who you are, what project, who the audience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931920" cy="438912"/>
          </a:xfrm>
          <a:prstGeom prst="rect">
            <a:avLst/>
          </a:prstGeom>
          <a:solidFill>
            <a:srgbClr val="E6DFFB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892808"/>
            <a:ext cx="310896" cy="310896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928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lion"/>
              </a:defRPr>
            </a:pPr>
            <a: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4708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Role — Tell Claude: "You are an Atlas content strategist"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931920" cy="438912"/>
          </a:xfrm>
          <a:prstGeom prst="rect">
            <a:avLst/>
          </a:prstGeom>
          <a:solidFill>
            <a:srgbClr val="F5E0F7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lion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500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Action — "Write a 300-word blog intro about EOR in Germany"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3931920" cy="438912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2898648"/>
            <a:ext cx="310896" cy="310896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986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lion"/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85292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Format — "As a .docx with H2 headers and bullet points"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3931920" cy="438912"/>
          </a:xfrm>
          <a:prstGeom prst="rect">
            <a:avLst/>
          </a:prstGeom>
          <a:solidFill>
            <a:srgbClr val="E6DFFB"/>
          </a:solidFill>
          <a:ln w="25400">
            <a:solidFill>
              <a:srgbClr val="582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3401568"/>
            <a:ext cx="310896" cy="310896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lion"/>
              </a:defRPr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35584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Tone — "Authoritative but not formal, per Atlas brand"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325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Good vs. Weak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645920"/>
            <a:ext cx="4114800" cy="822960"/>
          </a:xfrm>
          <a:prstGeom prst="rect">
            <a:avLst/>
          </a:prstGeom>
          <a:solidFill>
            <a:srgbClr val="FFECEC"/>
          </a:solidFill>
          <a:ln w="12700">
            <a:solidFill>
              <a:srgbClr val="FF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1673352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959"/>
                </a:solidFill>
                <a:latin typeface="Gelion"/>
              </a:defRPr>
            </a:pPr>
            <a:r>
              <a:t>Weak: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1856231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"Write a blog post about EOR"</a:t>
            </a:r>
            <a:br/>
            <a:r>
              <a:t>"Make a presentation"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606040"/>
            <a:ext cx="4114800" cy="1645920"/>
          </a:xfrm>
          <a:prstGeom prst="rect">
            <a:avLst/>
          </a:prstGeom>
          <a:solidFill>
            <a:srgbClr val="E8F4E8"/>
          </a:solidFill>
          <a:ln w="127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633472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A745"/>
                </a:solidFill>
                <a:latin typeface="Gelion"/>
              </a:defRPr>
            </a:pPr>
            <a:r>
              <a:t>Strong: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60628"/>
                </a:solidFill>
                <a:latin typeface="Gelion"/>
              </a:defRPr>
            </a:pPr>
            <a:r>
              <a:t>"Write a 600-word blog post targeting HR Directors at mid-market companies. Focus on top 3 compliance risks hiring in Germany. Atlas brand voice. Save as .docx."</a:t>
            </a:r>
            <a:br/>
            <a:br/>
            <a:r>
              <a:t>"Create 10-slide .pptx for Q2 sales kickoff. Audience: AEs and SDRs. New messaging, updated ICP, competitive positioning. Atlas PPT template."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4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143000" cy="201168"/>
          </a:xfrm>
          <a:prstGeom prst="roundRect">
            <a:avLst/>
          </a:prstGeom>
          <a:solidFill>
            <a:srgbClr val="301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Gelion"/>
              </a:defRPr>
            </a:pPr>
            <a:r>
              <a:t>Scheduled Tasks — Set It and Forget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697480" cy="2560320"/>
          </a:xfrm>
          <a:prstGeom prst="rect">
            <a:avLst/>
          </a:prstGeom>
          <a:solidFill>
            <a:srgbClr val="281050"/>
          </a:solidFill>
          <a:ln w="12700">
            <a:solidFill>
              <a:srgbClr val="402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How to 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830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Ask Claude in any conversation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Manage in project settings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"Schedule weekly brief every Monday 8am"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371600"/>
            <a:ext cx="2697480" cy="2560320"/>
          </a:xfrm>
          <a:prstGeom prst="rect">
            <a:avLst/>
          </a:prstGeom>
          <a:solidFill>
            <a:srgbClr val="281050"/>
          </a:solidFill>
          <a:ln w="12700">
            <a:solidFill>
              <a:srgbClr val="402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Marketing Ideas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7830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Weekly competitive landscape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Daily content calendar drafts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Monthly campaign rollup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Bi-weekly SEO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2697480" cy="2560320"/>
          </a:xfrm>
          <a:prstGeom prst="rect">
            <a:avLst/>
          </a:prstGeom>
          <a:solidFill>
            <a:srgbClr val="281050"/>
          </a:solidFill>
          <a:ln w="12700">
            <a:solidFill>
              <a:srgbClr val="402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Gelion"/>
              </a:defRPr>
            </a:pPr>
            <a:r>
              <a:t>Sales &amp; RevOps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78308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Daily pipeline health snapshot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Weekly stale-deal alerts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Monthly win/loss analysis</a:t>
            </a:r>
          </a:p>
          <a:p>
            <a:pPr>
              <a:spcAft>
                <a:spcPts val="300"/>
              </a:spcAft>
              <a:defRPr sz="900">
                <a:solidFill>
                  <a:srgbClr val="BBBBCC"/>
                </a:solidFill>
                <a:latin typeface="Gelion"/>
              </a:defRPr>
            </a:pPr>
            <a:r>
              <a:t>•  Quarterly territory refresh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solidFill>
            <a:srgbClr val="281050"/>
          </a:solidFill>
          <a:ln w="12700">
            <a:solidFill>
              <a:srgbClr val="402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4223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Gelion"/>
              </a:defRPr>
            </a:pPr>
            <a:r>
              <a:t>Note: Desktop app must be open at scheduled time. If missed, runs at next available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097280" cy="201168"/>
          </a:xfrm>
          <a:prstGeom prst="roundRect">
            <a:avLst/>
          </a:prstGeom>
          <a:solidFill>
            <a:srgbClr val="FF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Important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0628"/>
                </a:solidFill>
                <a:latin typeface="Gelion"/>
              </a:defRPr>
            </a:pPr>
            <a:r>
              <a:t>Security, Compliance &amp; Data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959"/>
                </a:solidFill>
                <a:latin typeface="Gelion"/>
              </a:defRPr>
            </a:pPr>
            <a:r>
              <a:t>What NOT to Share with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PII / employee data — SSN, passport, salary, medical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Client contracts &amp; financials — unless Legal approves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Credentials &amp; passwords — API keys, tokens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Confidential strategy — board materials, M&amp;A, financials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3931920" cy="457200"/>
          </a:xfrm>
          <a:prstGeom prst="rect">
            <a:avLst/>
          </a:prstGeom>
          <a:solidFill>
            <a:srgbClr val="F5E0F7"/>
          </a:solidFill>
          <a:ln w="25400">
            <a:solidFill>
              <a:srgbClr val="BA3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27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If you wouldn't email it to an external consultant, don't share it with Claude.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0628"/>
                </a:solidFill>
                <a:latin typeface="Gelion"/>
              </a:defRPr>
            </a:pPr>
            <a:r>
              <a:t>Best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Review before sharing externally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Use Team/Enterprise for admin controls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Don't publish artifacts with internal data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Check connector permissions carefully</a:t>
            </a:r>
          </a:p>
          <a:p>
            <a:pPr>
              <a:spcAft>
                <a:spcPts val="3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Report concerns to manager or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Gelion"/>
              </a:defRPr>
            </a:pPr>
            <a:r>
              <a:t>Resources &amp;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59FA"/>
                </a:solidFill>
                <a:latin typeface="Gelion"/>
              </a:defRPr>
            </a:pPr>
            <a:r>
              <a:t>Official Claude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Claude Desktop — claude.com/download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Cowork Product — claude.com/product/cowork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Getting Started with Cowork — Help Center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Organizing Tasks with Projects — Help Center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What Are Artifacts — Help Center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Prompt Engineering Guide — docs.claude.com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Creating Plugins — code.claude.com/docs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Anthropic Academy — Cowork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A33CA"/>
                </a:solidFill>
                <a:latin typeface="Gelion"/>
              </a:defRPr>
            </a:pPr>
            <a:r>
              <a:t>Community &amp;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Building Marketing Skills — MKT1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Cowork for GTM Teams — Databar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39 Claude Skills Examples — AIble w/ My Mind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Marketing Skills — Vibe Marketer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Claude Full Stack: MCP, Skills, 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17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A33CA"/>
                </a:solidFill>
                <a:latin typeface="Gelion"/>
              </a:defRPr>
            </a:pPr>
            <a:r>
              <a:t>Atlas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Atlas Brand Portal — brand.atlashxm.com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Brand SharePoint — PPT templates, font files</a:t>
            </a:r>
          </a:p>
          <a:p>
            <a:pPr>
              <a:spcAft>
                <a:spcPts val="300"/>
              </a:spcAft>
              <a:defRPr sz="800">
                <a:solidFill>
                  <a:srgbClr val="FFFFFF"/>
                </a:solidFill>
                <a:latin typeface="Gelion"/>
              </a:defRPr>
            </a:pPr>
            <a:r>
              <a:t>•  Contact: brand@atlashxm.com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60628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3" name="Picture 2" descr="Atlas_HXM_Prim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94360"/>
            <a:ext cx="1320800" cy="201168"/>
          </a:xfrm>
          <a:prstGeom prst="round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32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Gelion"/>
              </a:defRPr>
            </a:pPr>
            <a:r>
              <a:t>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60628"/>
                </a:solidFill>
                <a:latin typeface="Gelion"/>
              </a:defRPr>
            </a:pPr>
            <a:r>
              <a:t>Your Quick-Start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0628"/>
                </a:solidFill>
                <a:latin typeface="Gelion"/>
              </a:defRPr>
            </a:pPr>
            <a: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Download the Claude Desktop App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Set up Global Instructions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Create your first Project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Confirm 20+ Atlas skills installed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Connect one tool (Calendar, Slack, Asana)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Complete one real task in Cowork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0628"/>
                </a:solidFill>
                <a:latin typeface="Gelion"/>
              </a:defRPr>
            </a:pPr>
            <a:r>
              <a:t>This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Build 2-3 role-specific skills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Set up at least one scheduled task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Create an Artifact (dashboard, template)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Share a skill with a teammate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Build project with full team context</a:t>
            </a:r>
          </a:p>
          <a:p>
            <a:pPr>
              <a:spcAft>
                <a:spcPts val="400"/>
              </a:spcAft>
              <a:defRPr sz="900">
                <a:solidFill>
                  <a:srgbClr val="160628"/>
                </a:solidFill>
                <a:latin typeface="Gelion"/>
              </a:defRPr>
            </a:pPr>
            <a:r>
              <a:t>•  ☐  Combine skills for complex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931920"/>
            <a:ext cx="4114800" cy="548640"/>
          </a:xfrm>
          <a:prstGeom prst="rect">
            <a:avLst/>
          </a:prstGeom>
          <a:solidFill>
            <a:srgbClr val="DAE6FE"/>
          </a:solidFill>
          <a:ln w="25400">
            <a:solidFill>
              <a:srgbClr val="05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9593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0628"/>
                </a:solidFill>
                <a:latin typeface="Gelion"/>
              </a:defRPr>
            </a:pPr>
            <a:r>
              <a:t>Need help? Ask Claude "create a skill for [task]" or "set up a project for [workstream]".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-1371600"/>
            <a:ext cx="7772400" cy="7772400"/>
          </a:xfrm>
          <a:prstGeom prst="ellipse">
            <a:avLst/>
          </a:prstGeom>
          <a:solidFill>
            <a:srgbClr val="1E0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" y="201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pic>
        <p:nvPicPr>
          <p:cNvPr id="4" name="Picture 3" descr="Atlas_HXM_Primary_Logo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280160" cy="72283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931920" y="1371600"/>
            <a:ext cx="109728" cy="109728"/>
          </a:xfrm>
          <a:prstGeom prst="ellipse">
            <a:avLst/>
          </a:prstGeom>
          <a:solidFill>
            <a:srgbClr val="055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96512" y="1371600"/>
            <a:ext cx="109728" cy="109728"/>
          </a:xfrm>
          <a:prstGeom prst="ellipse">
            <a:avLst/>
          </a:prstGeom>
          <a:solidFill>
            <a:srgbClr val="582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61104" y="1371600"/>
            <a:ext cx="109728" cy="109728"/>
          </a:xfrm>
          <a:prstGeom prst="ellipse">
            <a:avLst/>
          </a:prstGeom>
          <a:solidFill>
            <a:srgbClr val="BA3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Gelion"/>
              </a:defRPr>
            </a:pPr>
            <a:r>
              <a:t>Start Building with Claude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Gelion"/>
              </a:defRPr>
            </a:pPr>
            <a:r>
              <a:t>Claude gets smarter every time you use it. The skills, memory, and workflows you build compound into a real productivity advantage for your team.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200400"/>
            <a:ext cx="2011680" cy="365760"/>
          </a:xfrm>
          <a:prstGeom prst="rect">
            <a:avLst/>
          </a:prstGeom>
          <a:solidFill>
            <a:srgbClr val="05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Download Claude 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200400"/>
            <a:ext cx="1828800" cy="365760"/>
          </a:xfrm>
          <a:prstGeom prst="rect">
            <a:avLst/>
          </a:prstGeom>
          <a:solidFill>
            <a:srgbClr val="301850"/>
          </a:solidFill>
          <a:ln w="12700">
            <a:solidFill>
              <a:srgbClr val="604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lion"/>
              </a:defRPr>
            </a:pPr>
            <a:r>
              <a:t>Cowork Help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Gelion"/>
              </a:defRPr>
            </a:pPr>
            <a:r>
              <a:t>For People, By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Gelion"/>
              </a:defRPr>
            </a:pPr>
            <a:r>
              <a:t>Questions? Reach out to the GTM AI &amp; Automation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